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5" r:id="rId6"/>
    <p:sldId id="260" r:id="rId7"/>
    <p:sldId id="261" r:id="rId8"/>
    <p:sldId id="266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6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39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6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29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8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9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3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7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8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1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0F29E64-772C-4F31-90D9-FCE36F0719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DD1E18-ECB9-475E-B82F-1DB9C5CBA5C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91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9AEB5-4198-D4B1-A71A-075B5B214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HostAI</a:t>
            </a:r>
            <a:r>
              <a:rPr lang="en-GB" dirty="0"/>
              <a:t>: </a:t>
            </a:r>
            <a:br>
              <a:rPr lang="en-GB" dirty="0"/>
            </a:br>
            <a:r>
              <a:rPr lang="en-GB" sz="6700" dirty="0"/>
              <a:t>A multi agent approach toward Procedural Content Generation</a:t>
            </a:r>
            <a:endParaRPr lang="en-US" sz="67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9A1CF4-EA92-BD55-0E2C-6576FCD4FD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Isaac 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37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2447E9-E4DE-199D-8495-593C15CA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  <a:endParaRPr lang="en-US" dirty="0"/>
          </a:p>
        </p:txBody>
      </p:sp>
      <p:pic>
        <p:nvPicPr>
          <p:cNvPr id="10" name="內容版面配置區 9" descr="一張含有 文字, 腳踏車, 熊貓, 輪 的圖片&#10;&#10;AI 產生的內容可能不正確。">
            <a:extLst>
              <a:ext uri="{FF2B5EF4-FFF2-40B4-BE49-F238E27FC236}">
                <a16:creationId xmlns:a16="http://schemas.microsoft.com/office/drawing/2014/main" id="{76E1863B-A4D8-97F4-F982-CC812B37A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445" y="3240359"/>
            <a:ext cx="3585917" cy="2689438"/>
          </a:xfrm>
        </p:spPr>
      </p:pic>
      <p:pic>
        <p:nvPicPr>
          <p:cNvPr id="4" name="圖片 3" descr="Figure 1. An ongoing game in AI Dungeon&#10;&#10;">
            <a:extLst>
              <a:ext uri="{FF2B5EF4-FFF2-40B4-BE49-F238E27FC236}">
                <a16:creationId xmlns:a16="http://schemas.microsoft.com/office/drawing/2014/main" id="{1B51256F-CF75-32F7-B9BE-8AC4574494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740" y="2196254"/>
            <a:ext cx="3951095" cy="372227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FEA1E03-7FE4-688C-45DB-800E8A5AEEB5}"/>
              </a:ext>
            </a:extLst>
          </p:cNvPr>
          <p:cNvSpPr txBox="1"/>
          <p:nvPr/>
        </p:nvSpPr>
        <p:spPr>
          <a:xfrm>
            <a:off x="1471347" y="59297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Figure 1. Image generation in Canva</a:t>
            </a:r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647C6C-5C57-9B1A-4680-0FEF193E38C9}"/>
              </a:ext>
            </a:extLst>
          </p:cNvPr>
          <p:cNvSpPr txBox="1"/>
          <p:nvPr/>
        </p:nvSpPr>
        <p:spPr>
          <a:xfrm>
            <a:off x="7778740" y="59185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Figure 2. An ongoing game in AI Dungeon</a:t>
            </a:r>
            <a:endParaRPr 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D965E2D-95FF-4125-EAF0-7327E13287F2}"/>
              </a:ext>
            </a:extLst>
          </p:cNvPr>
          <p:cNvSpPr txBox="1"/>
          <p:nvPr/>
        </p:nvSpPr>
        <p:spPr>
          <a:xfrm>
            <a:off x="1203960" y="1874520"/>
            <a:ext cx="5875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One approach of Gen AI is game content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Inconsistence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Hallucination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Confuse with user input</a:t>
            </a:r>
          </a:p>
        </p:txBody>
      </p:sp>
    </p:spTree>
    <p:extLst>
      <p:ext uri="{BB962C8B-B14F-4D97-AF65-F5344CB8AC3E}">
        <p14:creationId xmlns:p14="http://schemas.microsoft.com/office/powerpoint/2010/main" val="262243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2DD42-A62D-928F-5053-9964690D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Objective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44F4B-0B65-0FF0-89FA-115203A9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Dynamic generated story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Interactive control on the main character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Ensure all action align with rule.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Avoid confusion due to invalid information from user.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Avoid inconsistence in AI-generated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Proactive action from non-player character (NPC)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879B92-1707-F8E9-6CDE-7A2F9FCAB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Agents Design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466C21-FC78-951C-56BD-464DB4709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5366"/>
          </a:xfrm>
        </p:spPr>
        <p:txBody>
          <a:bodyPr>
            <a:normAutofit/>
          </a:bodyPr>
          <a:lstStyle/>
          <a:p>
            <a:r>
              <a:rPr lang="en-GB" dirty="0"/>
              <a:t>Narrator: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sz="1700" dirty="0"/>
              <a:t>Validate the player's prompt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sz="1700" dirty="0"/>
              <a:t>Extract and structure the action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1700" dirty="0"/>
              <a:t>Generate engaging narratives</a:t>
            </a:r>
            <a:endParaRPr lang="en-GB" sz="1700" dirty="0"/>
          </a:p>
          <a:p>
            <a:r>
              <a:rPr lang="en-GB" dirty="0"/>
              <a:t>Judge: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sz="1700" dirty="0"/>
              <a:t>Validate the action is feasible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1700" dirty="0"/>
              <a:t>Assign an appropriate Difficulty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sz="1700" dirty="0"/>
              <a:t>Evaluate the mechanical consequences</a:t>
            </a:r>
          </a:p>
          <a:p>
            <a:r>
              <a:rPr lang="en-GB" dirty="0"/>
              <a:t>Interface: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sz="1600" dirty="0"/>
              <a:t>Communicate with player</a:t>
            </a:r>
          </a:p>
          <a:p>
            <a:r>
              <a:rPr lang="en-GB" dirty="0"/>
              <a:t>NPCs: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1600" dirty="0"/>
              <a:t>Generate a structured reaction</a:t>
            </a:r>
            <a:endParaRPr lang="en-GB" sz="1600" dirty="0"/>
          </a:p>
          <a:p>
            <a:endParaRPr lang="en-GB" dirty="0"/>
          </a:p>
          <a:p>
            <a:endParaRPr lang="en-US" dirty="0"/>
          </a:p>
        </p:txBody>
      </p:sp>
      <p:pic>
        <p:nvPicPr>
          <p:cNvPr id="21" name="圖片 20" descr="一張含有 螢幕擷取畫面, 文字, 字型 的圖片&#10;&#10;AI 產生的內容可能不正確。">
            <a:extLst>
              <a:ext uri="{FF2B5EF4-FFF2-40B4-BE49-F238E27FC236}">
                <a16:creationId xmlns:a16="http://schemas.microsoft.com/office/drawing/2014/main" id="{6FC1C36B-5C53-119E-C322-DE447928E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0" y="2334629"/>
            <a:ext cx="4582160" cy="305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7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571E-0103-BEDA-245D-F9475DAF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E54020-034D-0630-215E-7EE18791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 </a:t>
            </a:r>
            <a:r>
              <a:rPr lang="en-GB" dirty="0"/>
              <a:t>– Overview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84EBB2-2477-B103-CE91-FBB34809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83139"/>
            <a:ext cx="5824220" cy="4788257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GB" sz="2000" dirty="0"/>
              <a:t>Technology stack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 err="1"/>
              <a:t>CrewAI</a:t>
            </a:r>
            <a:r>
              <a:rPr lang="en-GB" sz="2000" dirty="0"/>
              <a:t> (python)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/>
              <a:t>Each agent act as </a:t>
            </a:r>
            <a:r>
              <a:rPr lang="en-GB" sz="1600" dirty="0" err="1"/>
              <a:t>CrewAI’s</a:t>
            </a:r>
            <a:r>
              <a:rPr lang="en-GB" sz="1600" dirty="0"/>
              <a:t> crew/flow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MongoDB (docker)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/>
              <a:t>Embed vector index for game rule and campaign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ChatGPT 5o mini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01168" lvl="1" indent="0">
              <a:buNone/>
            </a:pPr>
            <a:r>
              <a:rPr lang="en-GB" sz="2000" dirty="0"/>
              <a:t>Benefit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Retrieval-Augmented Generation (RAG) for consistence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Internal state for consistence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Separate functionality to maximize the factuality and proactiveness</a:t>
            </a:r>
          </a:p>
        </p:txBody>
      </p:sp>
      <p:pic>
        <p:nvPicPr>
          <p:cNvPr id="9" name="圖片 8" descr="一張含有 字型, 圖形, 標誌, 美工圖案 的圖片&#10;&#10;AI 產生的內容可能不正確。">
            <a:extLst>
              <a:ext uri="{FF2B5EF4-FFF2-40B4-BE49-F238E27FC236}">
                <a16:creationId xmlns:a16="http://schemas.microsoft.com/office/drawing/2014/main" id="{94077E13-3780-10B6-0160-96A6C03FA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200" y="1935327"/>
            <a:ext cx="3876464" cy="1243017"/>
          </a:xfrm>
          <a:prstGeom prst="rect">
            <a:avLst/>
          </a:prstGeom>
        </p:spPr>
      </p:pic>
      <p:pic>
        <p:nvPicPr>
          <p:cNvPr id="11" name="圖片 10" descr="一張含有 字型, 圖形, 文字, 印刷術 的圖片&#10;&#10;AI 產生的內容可能不正確。">
            <a:extLst>
              <a:ext uri="{FF2B5EF4-FFF2-40B4-BE49-F238E27FC236}">
                <a16:creationId xmlns:a16="http://schemas.microsoft.com/office/drawing/2014/main" id="{790D9121-20B4-48DA-B962-E8D1C62EE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50" y="3429000"/>
            <a:ext cx="4077968" cy="1213816"/>
          </a:xfrm>
          <a:prstGeom prst="rect">
            <a:avLst/>
          </a:prstGeom>
        </p:spPr>
      </p:pic>
      <p:pic>
        <p:nvPicPr>
          <p:cNvPr id="13" name="圖形 12">
            <a:extLst>
              <a:ext uri="{FF2B5EF4-FFF2-40B4-BE49-F238E27FC236}">
                <a16:creationId xmlns:a16="http://schemas.microsoft.com/office/drawing/2014/main" id="{59C70F35-E5B0-9183-B397-7932A5763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63" t="35135" r="8240" b="32456"/>
          <a:stretch>
            <a:fillRect/>
          </a:stretch>
        </p:blipFill>
        <p:spPr>
          <a:xfrm>
            <a:off x="6877050" y="4942054"/>
            <a:ext cx="4457965" cy="125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0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6912-05C3-A4FE-E864-53D8C79B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F364C-7CB7-6C59-F290-607EA92E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Implementation</a:t>
            </a:r>
            <a:br>
              <a:rPr lang="en-US" dirty="0"/>
            </a:br>
            <a:r>
              <a:rPr lang="en-GB" dirty="0"/>
              <a:t>Iteration 1 &amp;2</a:t>
            </a:r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A5793B-2178-6816-534C-728D7AF4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Flow  + Crew (sequential) </a:t>
            </a:r>
            <a:endParaRPr 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4A50517-132E-B0D0-CF38-C5E9A4030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Flow + Crew (hierarchical) </a:t>
            </a:r>
            <a:endParaRPr lang="en-US" dirty="0"/>
          </a:p>
        </p:txBody>
      </p:sp>
      <p:pic>
        <p:nvPicPr>
          <p:cNvPr id="20" name="內容版面配置區 19" descr="一張含有 寫生, 圖表, 圖畫, 卡通 的圖片&#10;&#10;AI 產生的內容可能不正確。">
            <a:extLst>
              <a:ext uri="{FF2B5EF4-FFF2-40B4-BE49-F238E27FC236}">
                <a16:creationId xmlns:a16="http://schemas.microsoft.com/office/drawing/2014/main" id="{4C288AD3-5D53-3283-9EDE-3DBE9DC816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629958"/>
            <a:ext cx="4937125" cy="3284010"/>
          </a:xfrm>
        </p:spPr>
      </p:pic>
      <p:pic>
        <p:nvPicPr>
          <p:cNvPr id="26" name="內容版面配置區 25" descr="一張含有 寫生, 圓形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5391D403-3E34-7AB2-00BB-1F90160108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69" y="2582863"/>
            <a:ext cx="4090900" cy="3378200"/>
          </a:xfrm>
        </p:spPr>
      </p:pic>
    </p:spTree>
    <p:extLst>
      <p:ext uri="{BB962C8B-B14F-4D97-AF65-F5344CB8AC3E}">
        <p14:creationId xmlns:p14="http://schemas.microsoft.com/office/powerpoint/2010/main" val="310433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E211-5487-0535-5A54-BDC60C67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F40EEE-9480-DAFE-DB37-8E1C53C6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Implementation</a:t>
            </a:r>
            <a:br>
              <a:rPr lang="en-US" dirty="0"/>
            </a:br>
            <a:r>
              <a:rPr lang="en-US" dirty="0"/>
              <a:t>I</a:t>
            </a:r>
            <a:r>
              <a:rPr lang="en-GB" dirty="0" err="1"/>
              <a:t>teration</a:t>
            </a:r>
            <a:r>
              <a:rPr lang="en-GB" dirty="0"/>
              <a:t> 3 &amp;4</a:t>
            </a:r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1669785-6ED2-D85F-459E-357ED6D7B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Flow  + Flow</a:t>
            </a:r>
            <a:endParaRPr lang="en-US" dirty="0"/>
          </a:p>
        </p:txBody>
      </p:sp>
      <p:pic>
        <p:nvPicPr>
          <p:cNvPr id="9" name="內容版面配置區 8" descr="一張含有 寫生, 設計 的圖片&#10;&#10;AI 產生的內容可能不正確。">
            <a:extLst>
              <a:ext uri="{FF2B5EF4-FFF2-40B4-BE49-F238E27FC236}">
                <a16:creationId xmlns:a16="http://schemas.microsoft.com/office/drawing/2014/main" id="{0AF7DB4D-AED5-0DA3-23C6-537ECE5EBE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713890"/>
            <a:ext cx="4938712" cy="3116145"/>
          </a:xfr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5D6ACF6-F106-A234-3B87-6A55376FB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Message  + Flow</a:t>
            </a:r>
            <a:endParaRPr lang="en-US" dirty="0"/>
          </a:p>
        </p:txBody>
      </p:sp>
      <p:pic>
        <p:nvPicPr>
          <p:cNvPr id="11" name="內容版面配置區 10" descr="一張含有 螢幕擷取畫面, 寫生, 圖表, 圓形 的圖片&#10;&#10;AI 產生的內容可能不正確。">
            <a:extLst>
              <a:ext uri="{FF2B5EF4-FFF2-40B4-BE49-F238E27FC236}">
                <a16:creationId xmlns:a16="http://schemas.microsoft.com/office/drawing/2014/main" id="{342FC5C3-34B2-5B4F-2870-C131C8D9D84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3048966"/>
            <a:ext cx="5584887" cy="2608884"/>
          </a:xfrm>
        </p:spPr>
      </p:pic>
    </p:spTree>
    <p:extLst>
      <p:ext uri="{BB962C8B-B14F-4D97-AF65-F5344CB8AC3E}">
        <p14:creationId xmlns:p14="http://schemas.microsoft.com/office/powerpoint/2010/main" val="34930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712CBB-3009-DF04-28EC-D2BD9698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GB" dirty="0"/>
              <a:t>Message Sequence</a:t>
            </a:r>
            <a:endParaRPr lang="en-US" dirty="0"/>
          </a:p>
        </p:txBody>
      </p:sp>
      <p:pic>
        <p:nvPicPr>
          <p:cNvPr id="9" name="內容版面配置區 8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F705C48B-F2EA-6E23-ACA2-A5CB7CD4E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1" b="-2"/>
          <a:stretch>
            <a:fillRect/>
          </a:stretch>
        </p:blipFill>
        <p:spPr>
          <a:xfrm>
            <a:off x="121940" y="75926"/>
            <a:ext cx="4654276" cy="68701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F89B7E5-563B-979D-5CEC-040F5A5FF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827149"/>
              </p:ext>
            </p:extLst>
          </p:nvPr>
        </p:nvGraphicFramePr>
        <p:xfrm>
          <a:off x="5018709" y="2256365"/>
          <a:ext cx="6849442" cy="41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628">
                  <a:extLst>
                    <a:ext uri="{9D8B030D-6E8A-4147-A177-3AD203B41FA5}">
                      <a16:colId xmlns:a16="http://schemas.microsoft.com/office/drawing/2014/main" val="2256880242"/>
                    </a:ext>
                  </a:extLst>
                </a:gridCol>
                <a:gridCol w="1476911">
                  <a:extLst>
                    <a:ext uri="{9D8B030D-6E8A-4147-A177-3AD203B41FA5}">
                      <a16:colId xmlns:a16="http://schemas.microsoft.com/office/drawing/2014/main" val="570841550"/>
                    </a:ext>
                  </a:extLst>
                </a:gridCol>
                <a:gridCol w="4152903">
                  <a:extLst>
                    <a:ext uri="{9D8B030D-6E8A-4147-A177-3AD203B41FA5}">
                      <a16:colId xmlns:a16="http://schemas.microsoft.com/office/drawing/2014/main" val="3283555516"/>
                    </a:ext>
                  </a:extLst>
                </a:gridCol>
              </a:tblGrid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Sender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Receiver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Receiver’s Task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561776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dirty="0"/>
                        <a:t>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Narrator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Validate and extract 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537954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Narrator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Check feasibility and assign difficulty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35728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Judge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Difficulty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845781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Evaluate the impact/consequence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205011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Judge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Evaluate reaction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687127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NPC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Evaluate reactions’ consequence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313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NPC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Narrator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Create narrative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883610"/>
                  </a:ext>
                </a:extLst>
              </a:tr>
              <a:tr h="464726">
                <a:tc>
                  <a:txBody>
                    <a:bodyPr/>
                    <a:lstStyle/>
                    <a:p>
                      <a:r>
                        <a:rPr lang="en-GB" dirty="0"/>
                        <a:t>Narrator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Display narrative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805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6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2E671-B84F-94A9-3A0C-243CA408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614ED5-C603-7A68-8523-0CAE08033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2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A3F59F-903C-CFFD-2CEF-7F0A06FF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 &amp; Limitation</a:t>
            </a:r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2FD96F-EE7E-7EF6-6A48-A16A56E71D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Dynamic generated story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Validate all action align with rule.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Avoid confusion due to invalid information from user.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Proactive action from non-player character (NPC)</a:t>
            </a:r>
            <a:endParaRPr 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DDAB07B-E099-07B3-D0F5-E6CB6DE635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Latency (3-5 minute)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Unstable (many unexpected behaviour)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Limited consistence (restricted by the state)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Limited behavior (communication, attack, investigation)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36143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375</TotalTime>
  <Words>323</Words>
  <Application>Microsoft Office PowerPoint</Application>
  <PresentationFormat>寬螢幕</PresentationFormat>
  <Paragraphs>85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回顧</vt:lpstr>
      <vt:lpstr>HostAI:  A multi agent approach toward Procedural Content Generation</vt:lpstr>
      <vt:lpstr>Context</vt:lpstr>
      <vt:lpstr>Design Objective</vt:lpstr>
      <vt:lpstr>Agents Design</vt:lpstr>
      <vt:lpstr>Implementation – Overview</vt:lpstr>
      <vt:lpstr>Collaboration Implementation Iteration 1 &amp;2</vt:lpstr>
      <vt:lpstr>Collaboration Implementation Iteration 3 &amp;4</vt:lpstr>
      <vt:lpstr>Message Sequence</vt:lpstr>
      <vt:lpstr>Demo</vt:lpstr>
      <vt:lpstr>Result &amp; Limitation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Ng</dc:creator>
  <cp:lastModifiedBy>Isaac Ng</cp:lastModifiedBy>
  <cp:revision>19</cp:revision>
  <dcterms:created xsi:type="dcterms:W3CDTF">2025-12-06T00:48:24Z</dcterms:created>
  <dcterms:modified xsi:type="dcterms:W3CDTF">2025-12-06T07:04:17Z</dcterms:modified>
</cp:coreProperties>
</file>